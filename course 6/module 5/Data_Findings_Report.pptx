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7.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13.xml" ContentType="application/vnd.openxmlformats-officedocument.presentationml.slideLayout+xml"/>
  <Override PartName="/ppt/slides/_rels/slide2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Lst>
  <p:sldSz cx="9144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360" y="1959120"/>
            <a:ext cx="8164080" cy="1306440"/>
          </a:xfrm>
          <a:prstGeom prst="rect">
            <a:avLst/>
          </a:prstGeom>
          <a:noFill/>
          <a:ln w="0">
            <a:noFill/>
          </a:ln>
        </p:spPr>
        <p:txBody>
          <a:bodyPr lIns="0" rIns="0" tIns="0" bIns="0" anchor="ctr">
            <a:noAutofit/>
          </a:bodyPr>
          <a:p>
            <a:pPr indent="0" algn="ctr">
              <a:buNone/>
            </a:pPr>
            <a:endParaRPr b="0" lang="en-US" sz="3750" spc="-1" strike="noStrike">
              <a:solidFill>
                <a:srgbClr val="dd4100"/>
              </a:solidFill>
              <a:latin typeface="Arial"/>
            </a:endParaRPr>
          </a:p>
        </p:txBody>
      </p:sp>
      <p:sp>
        <p:nvSpPr>
          <p:cNvPr id="6" name="PlaceHolder 2"/>
          <p:cNvSpPr>
            <a:spLocks noGrp="1"/>
          </p:cNvSpPr>
          <p:nvPr>
            <p:ph type="subTitle"/>
          </p:nvPr>
        </p:nvSpPr>
        <p:spPr>
          <a:xfrm>
            <a:off x="326520" y="3483000"/>
            <a:ext cx="8490960" cy="2062440"/>
          </a:xfrm>
          <a:prstGeom prst="rect">
            <a:avLst/>
          </a:prstGeom>
          <a:noFill/>
          <a:ln w="0">
            <a:noFill/>
          </a:ln>
        </p:spPr>
        <p:txBody>
          <a:bodyPr lIns="0" rIns="0" tIns="0" bIns="0" anchor="ctr">
            <a:noAutofit/>
          </a:bodyPr>
          <a:p>
            <a:pPr indent="0" algn="ctr">
              <a:buNone/>
            </a:pPr>
            <a:endParaRPr b="0" lang="en-US" sz="3200" spc="-1" strike="noStrike">
              <a:solidFill>
                <a:srgbClr val="000000"/>
              </a:solidFill>
              <a:highlight>
                <a:srgbClr val="ffffff"/>
              </a:highlight>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B4D467F-B502-4268-9962-F556373AA7CC}"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CC9F8CE0-A0E7-45D3-AA10-BB9EEFD90328}"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3E4CAB96-E152-40FF-9C94-A29E03C7F122}"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360" y="1959120"/>
            <a:ext cx="8164080" cy="1306440"/>
          </a:xfrm>
          <a:prstGeom prst="rect">
            <a:avLst/>
          </a:prstGeom>
          <a:noFill/>
          <a:ln w="0">
            <a:noFill/>
          </a:ln>
        </p:spPr>
        <p:txBody>
          <a:bodyPr lIns="0" rIns="0" tIns="0" bIns="0" anchor="ctr">
            <a:noAutofit/>
          </a:bodyPr>
          <a:p>
            <a:pPr indent="0" algn="ctr">
              <a:buNone/>
            </a:pPr>
            <a:endParaRPr b="0" lang="en-US" sz="3750" spc="-1" strike="noStrike">
              <a:solidFill>
                <a:srgbClr val="dd4100"/>
              </a:solidFill>
              <a:latin typeface="Arial"/>
            </a:endParaRPr>
          </a:p>
        </p:txBody>
      </p:sp>
      <p:sp>
        <p:nvSpPr>
          <p:cNvPr id="19" name="PlaceHolder 2"/>
          <p:cNvSpPr>
            <a:spLocks noGrp="1"/>
          </p:cNvSpPr>
          <p:nvPr>
            <p:ph/>
          </p:nvPr>
        </p:nvSpPr>
        <p:spPr>
          <a:xfrm>
            <a:off x="326520" y="3483000"/>
            <a:ext cx="8490960" cy="2062440"/>
          </a:xfrm>
          <a:prstGeom prst="rect">
            <a:avLst/>
          </a:prstGeom>
          <a:noFill/>
          <a:ln w="0">
            <a:noFill/>
          </a:ln>
        </p:spPr>
        <p:txBody>
          <a:bodyPr lIns="0" rIns="0" tIns="0" bIns="0" anchor="t">
            <a:normAutofit/>
          </a:bodyPr>
          <a:p>
            <a:pPr indent="0">
              <a:spcBef>
                <a:spcPts val="1281"/>
              </a:spcBef>
              <a:buNone/>
            </a:pPr>
            <a:endParaRPr b="0" lang="en-US" sz="2900" spc="-1" strike="noStrike">
              <a:solidFill>
                <a:srgbClr val="009bdd"/>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7F9D7C19-AFE7-498A-BC5F-B24C44D40796}"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63BA891C-57D2-42C5-9FFE-93FADD9018FC}"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360" y="1959120"/>
            <a:ext cx="8164080" cy="1306440"/>
          </a:xfrm>
          <a:prstGeom prst="rect">
            <a:avLst/>
          </a:prstGeom>
          <a:noFill/>
          <a:ln w="0">
            <a:noFill/>
          </a:ln>
        </p:spPr>
        <p:txBody>
          <a:bodyPr lIns="0" rIns="0" tIns="0" bIns="0" anchor="ctr">
            <a:noAutofit/>
          </a:bodyPr>
          <a:p>
            <a:pPr indent="0" algn="ctr">
              <a:buNone/>
            </a:pPr>
            <a:endParaRPr b="0" lang="en-US" sz="3750" spc="-1" strike="noStrike">
              <a:solidFill>
                <a:srgbClr val="dd4100"/>
              </a:solidFill>
              <a:latin typeface="Arial"/>
            </a:endParaRPr>
          </a:p>
        </p:txBody>
      </p:sp>
      <p:sp>
        <p:nvSpPr>
          <p:cNvPr id="30" name="PlaceHolder 2"/>
          <p:cNvSpPr>
            <a:spLocks noGrp="1"/>
          </p:cNvSpPr>
          <p:nvPr>
            <p:ph/>
          </p:nvPr>
        </p:nvSpPr>
        <p:spPr>
          <a:xfrm>
            <a:off x="326520" y="3483000"/>
            <a:ext cx="4143240" cy="2062440"/>
          </a:xfrm>
          <a:prstGeom prst="rect">
            <a:avLst/>
          </a:prstGeom>
          <a:noFill/>
          <a:ln w="0">
            <a:noFill/>
          </a:ln>
        </p:spPr>
        <p:txBody>
          <a:bodyPr lIns="0" rIns="0" tIns="0" bIns="0" anchor="t">
            <a:normAutofit/>
          </a:bodyPr>
          <a:p>
            <a:pPr indent="0">
              <a:spcBef>
                <a:spcPts val="1281"/>
              </a:spcBef>
              <a:buNone/>
            </a:pPr>
            <a:endParaRPr b="0" lang="en-US" sz="2900" spc="-1" strike="noStrike">
              <a:solidFill>
                <a:srgbClr val="009bdd"/>
              </a:solidFill>
              <a:latin typeface="Arial"/>
            </a:endParaRPr>
          </a:p>
        </p:txBody>
      </p:sp>
      <p:sp>
        <p:nvSpPr>
          <p:cNvPr id="31" name="PlaceHolder 3"/>
          <p:cNvSpPr>
            <a:spLocks noGrp="1"/>
          </p:cNvSpPr>
          <p:nvPr>
            <p:ph/>
          </p:nvPr>
        </p:nvSpPr>
        <p:spPr>
          <a:xfrm>
            <a:off x="4677480" y="3483000"/>
            <a:ext cx="4143240" cy="2062440"/>
          </a:xfrm>
          <a:prstGeom prst="rect">
            <a:avLst/>
          </a:prstGeom>
          <a:noFill/>
          <a:ln w="0">
            <a:noFill/>
          </a:ln>
        </p:spPr>
        <p:txBody>
          <a:bodyPr lIns="0" rIns="0" tIns="0" bIns="0" anchor="t">
            <a:normAutofit/>
          </a:bodyPr>
          <a:p>
            <a:pPr indent="0">
              <a:spcBef>
                <a:spcPts val="1281"/>
              </a:spcBef>
              <a:buNone/>
            </a:pPr>
            <a:endParaRPr b="0" lang="en-US" sz="2900" spc="-1" strike="noStrike">
              <a:solidFill>
                <a:srgbClr val="009bdd"/>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C3B877D3-857F-46D7-81E4-F6C59903F17A}"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FDDBD981-01A1-4319-AE7D-EF78EBC9CC1A}"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0" name="PlaceHolder 1"/>
          <p:cNvSpPr>
            <a:spLocks noGrp="1"/>
          </p:cNvSpPr>
          <p:nvPr>
            <p:ph type="title"/>
          </p:nvPr>
        </p:nvSpPr>
        <p:spPr>
          <a:xfrm>
            <a:off x="360" y="1959120"/>
            <a:ext cx="8164080" cy="1306440"/>
          </a:xfrm>
          <a:prstGeom prst="rect">
            <a:avLst/>
          </a:prstGeom>
          <a:noFill/>
          <a:ln w="0">
            <a:noFill/>
          </a:ln>
        </p:spPr>
        <p:txBody>
          <a:bodyPr lIns="0" rIns="0" tIns="0" bIns="0" anchor="ctr">
            <a:noAutofit/>
          </a:bodyPr>
          <a:p>
            <a:pPr indent="0" algn="ctr">
              <a:buNone/>
            </a:pPr>
            <a:endParaRPr b="0" lang="en-US" sz="3750" spc="-1" strike="noStrike">
              <a:solidFill>
                <a:srgbClr val="dd41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656C8ECE-6985-40EB-86AD-C2DF86B52053}"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213459A0-3884-464E-98DD-AB0A7845F565}"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61AA6D3B-EDF5-4976-8634-0F014FCF16E4}"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57BF5CA0-F892-4D1D-8A1F-E7F02314C6E8}"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Blue_Curve">
    <p:spTree>
      <p:nvGrpSpPr>
        <p:cNvPr id="1" name=""/>
        <p:cNvGrpSpPr/>
        <p:nvPr/>
      </p:nvGrpSpPr>
      <p:grpSpPr>
        <a:xfrm>
          <a:off x="0" y="0"/>
          <a:ext cx="0" cy="0"/>
          <a:chOff x="0" y="0"/>
          <a:chExt cx="0" cy="0"/>
        </a:xfrm>
      </p:grpSpPr>
      <p:sp>
        <p:nvSpPr>
          <p:cNvPr id="56" name="PlaceHolder 1"/>
          <p:cNvSpPr>
            <a:spLocks noGrp="1"/>
          </p:cNvSpPr>
          <p:nvPr>
            <p:ph type="title"/>
          </p:nvPr>
        </p:nvSpPr>
        <p:spPr>
          <a:xfrm>
            <a:off x="360" y="1959120"/>
            <a:ext cx="8164080" cy="1306440"/>
          </a:xfrm>
          <a:prstGeom prst="rect">
            <a:avLst/>
          </a:prstGeom>
          <a:noFill/>
          <a:ln w="0">
            <a:noFill/>
          </a:ln>
        </p:spPr>
        <p:txBody>
          <a:bodyPr lIns="0" rIns="0" tIns="0" bIns="0" anchor="ctr">
            <a:noAutofit/>
          </a:bodyPr>
          <a:p>
            <a:pPr indent="0" algn="ctr">
              <a:buNone/>
            </a:pPr>
            <a:endParaRPr b="0" lang="en-US" sz="3750" spc="-1" strike="noStrike">
              <a:solidFill>
                <a:srgbClr val="dd4100"/>
              </a:solidFill>
              <a:latin typeface="Arial"/>
            </a:endParaRPr>
          </a:p>
        </p:txBody>
      </p:sp>
      <p:sp>
        <p:nvSpPr>
          <p:cNvPr id="3" name="PlaceHolder 2"/>
          <p:cNvSpPr>
            <a:spLocks noGrp="1"/>
          </p:cNvSpPr>
          <p:nvPr>
            <p:ph type="ftr" idx="35"/>
          </p:nvPr>
        </p:nvSpPr>
        <p:spPr/>
        <p:txBody>
          <a:bodyPr/>
          <a:p>
            <a:r>
              <a:t>Footer</a:t>
            </a:r>
          </a:p>
        </p:txBody>
      </p:sp>
      <p:sp>
        <p:nvSpPr>
          <p:cNvPr id="4" name="PlaceHolder 3"/>
          <p:cNvSpPr>
            <a:spLocks noGrp="1"/>
          </p:cNvSpPr>
          <p:nvPr>
            <p:ph type="sldNum" idx="36"/>
          </p:nvPr>
        </p:nvSpPr>
        <p:spPr/>
        <p:txBody>
          <a:bodyPr/>
          <a:p>
            <a:fld id="{C71D0284-E0C0-4C38-B471-6CB8B43F4AF7}" type="slidenum">
              <a:t>&lt;#&gt;</a:t>
            </a:fld>
          </a:p>
        </p:txBody>
      </p:sp>
      <p:sp>
        <p:nvSpPr>
          <p:cNvPr id="5" name="PlaceHolder 4"/>
          <p:cNvSpPr>
            <a:spLocks noGrp="1"/>
          </p:cNvSpPr>
          <p:nvPr>
            <p:ph type="dt" idx="34"/>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ue_Curve">
    <p:spTree>
      <p:nvGrpSpPr>
        <p:cNvPr id="1" name=""/>
        <p:cNvGrpSpPr/>
        <p:nvPr/>
      </p:nvGrpSpPr>
      <p:grpSpPr>
        <a:xfrm>
          <a:off x="0" y="0"/>
          <a:ext cx="0" cy="0"/>
          <a:chOff x="0" y="0"/>
          <a:chExt cx="0" cy="0"/>
        </a:xfrm>
      </p:grpSpPr>
      <p:sp>
        <p:nvSpPr>
          <p:cNvPr id="57" name="PlaceHolder 1"/>
          <p:cNvSpPr>
            <a:spLocks noGrp="1"/>
          </p:cNvSpPr>
          <p:nvPr>
            <p:ph type="title"/>
          </p:nvPr>
        </p:nvSpPr>
        <p:spPr>
          <a:xfrm>
            <a:off x="360" y="1959120"/>
            <a:ext cx="8164080" cy="1306440"/>
          </a:xfrm>
          <a:prstGeom prst="rect">
            <a:avLst/>
          </a:prstGeom>
          <a:noFill/>
          <a:ln w="0">
            <a:noFill/>
          </a:ln>
        </p:spPr>
        <p:txBody>
          <a:bodyPr lIns="0" rIns="0" tIns="0" bIns="0" anchor="ctr">
            <a:noAutofit/>
          </a:bodyPr>
          <a:p>
            <a:pPr indent="0" algn="ctr">
              <a:buNone/>
            </a:pPr>
            <a:endParaRPr b="0" lang="en-US" sz="3750" spc="-1" strike="noStrike">
              <a:solidFill>
                <a:srgbClr val="dd4100"/>
              </a:solidFill>
              <a:latin typeface="Arial"/>
            </a:endParaRPr>
          </a:p>
        </p:txBody>
      </p:sp>
      <p:sp>
        <p:nvSpPr>
          <p:cNvPr id="58" name="PlaceHolder 2"/>
          <p:cNvSpPr>
            <a:spLocks noGrp="1"/>
          </p:cNvSpPr>
          <p:nvPr>
            <p:ph/>
          </p:nvPr>
        </p:nvSpPr>
        <p:spPr>
          <a:xfrm>
            <a:off x="326520" y="3483000"/>
            <a:ext cx="8490960" cy="2062440"/>
          </a:xfrm>
          <a:prstGeom prst="rect">
            <a:avLst/>
          </a:prstGeom>
          <a:noFill/>
          <a:ln w="0">
            <a:noFill/>
          </a:ln>
        </p:spPr>
        <p:txBody>
          <a:bodyPr lIns="0" rIns="0" tIns="0" bIns="0" anchor="t">
            <a:normAutofit/>
          </a:bodyPr>
          <a:p>
            <a:pPr indent="0">
              <a:spcBef>
                <a:spcPts val="1281"/>
              </a:spcBef>
              <a:buNone/>
            </a:pPr>
            <a:endParaRPr b="0" lang="en-US" sz="2900" spc="-1" strike="noStrike">
              <a:solidFill>
                <a:srgbClr val="009bdd"/>
              </a:solidFill>
              <a:latin typeface="Arial"/>
            </a:endParaRPr>
          </a:p>
        </p:txBody>
      </p:sp>
      <p:sp>
        <p:nvSpPr>
          <p:cNvPr id="4" name="PlaceHolder 3"/>
          <p:cNvSpPr>
            <a:spLocks noGrp="1"/>
          </p:cNvSpPr>
          <p:nvPr>
            <p:ph type="ftr" idx="35"/>
          </p:nvPr>
        </p:nvSpPr>
        <p:spPr/>
        <p:txBody>
          <a:bodyPr/>
          <a:p>
            <a:r>
              <a:t>Footer</a:t>
            </a:r>
          </a:p>
        </p:txBody>
      </p:sp>
      <p:sp>
        <p:nvSpPr>
          <p:cNvPr id="5" name="PlaceHolder 4"/>
          <p:cNvSpPr>
            <a:spLocks noGrp="1"/>
          </p:cNvSpPr>
          <p:nvPr>
            <p:ph type="sldNum" idx="36"/>
          </p:nvPr>
        </p:nvSpPr>
        <p:spPr/>
        <p:txBody>
          <a:bodyPr/>
          <a:p>
            <a:fld id="{72B7D684-4C4D-4619-850A-C8FD77C60A1E}" type="slidenum">
              <a:t>&lt;#&gt;</a:t>
            </a:fld>
          </a:p>
        </p:txBody>
      </p:sp>
      <p:sp>
        <p:nvSpPr>
          <p:cNvPr id="6" name="PlaceHolder 5"/>
          <p:cNvSpPr>
            <a:spLocks noGrp="1"/>
          </p:cNvSpPr>
          <p:nvPr>
            <p:ph type="dt" idx="3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ue_Curve">
    <p:spTree>
      <p:nvGrpSpPr>
        <p:cNvPr id="1" name=""/>
        <p:cNvGrpSpPr/>
        <p:nvPr/>
      </p:nvGrpSpPr>
      <p:grpSpPr>
        <a:xfrm>
          <a:off x="0" y="0"/>
          <a:ext cx="0" cy="0"/>
          <a:chOff x="0" y="0"/>
          <a:chExt cx="0" cy="0"/>
        </a:xfrm>
      </p:grpSpPr>
      <p:sp>
        <p:nvSpPr>
          <p:cNvPr id="59" name="PlaceHolder 1"/>
          <p:cNvSpPr>
            <a:spLocks noGrp="1"/>
          </p:cNvSpPr>
          <p:nvPr>
            <p:ph type="title"/>
          </p:nvPr>
        </p:nvSpPr>
        <p:spPr>
          <a:xfrm>
            <a:off x="360" y="1959120"/>
            <a:ext cx="8164080" cy="1306440"/>
          </a:xfrm>
          <a:prstGeom prst="rect">
            <a:avLst/>
          </a:prstGeom>
          <a:noFill/>
          <a:ln w="0">
            <a:noFill/>
          </a:ln>
        </p:spPr>
        <p:txBody>
          <a:bodyPr lIns="0" rIns="0" tIns="0" bIns="0" anchor="ctr">
            <a:noAutofit/>
          </a:bodyPr>
          <a:p>
            <a:pPr indent="0" algn="ctr">
              <a:buNone/>
            </a:pPr>
            <a:endParaRPr b="0" lang="en-US" sz="3750" spc="-1" strike="noStrike">
              <a:solidFill>
                <a:srgbClr val="dd4100"/>
              </a:solidFill>
              <a:latin typeface="Arial"/>
            </a:endParaRPr>
          </a:p>
        </p:txBody>
      </p:sp>
      <p:sp>
        <p:nvSpPr>
          <p:cNvPr id="60" name="PlaceHolder 2"/>
          <p:cNvSpPr>
            <a:spLocks noGrp="1"/>
          </p:cNvSpPr>
          <p:nvPr>
            <p:ph type="subTitle"/>
          </p:nvPr>
        </p:nvSpPr>
        <p:spPr>
          <a:xfrm>
            <a:off x="326520" y="3483000"/>
            <a:ext cx="8490960" cy="2062440"/>
          </a:xfrm>
          <a:prstGeom prst="rect">
            <a:avLst/>
          </a:prstGeom>
          <a:noFill/>
          <a:ln w="0">
            <a:noFill/>
          </a:ln>
        </p:spPr>
        <p:txBody>
          <a:bodyPr lIns="0" rIns="0" tIns="0" bIns="0" anchor="ctr">
            <a:noAutofit/>
          </a:bodyPr>
          <a:p>
            <a:pPr indent="0" algn="ctr">
              <a:buNone/>
            </a:pPr>
            <a:endParaRPr b="0" lang="en-US" sz="3200" spc="-1" strike="noStrike">
              <a:solidFill>
                <a:srgbClr val="000000"/>
              </a:solidFill>
              <a:highlight>
                <a:srgbClr val="ffffff"/>
              </a:highlight>
              <a:latin typeface="Arial"/>
            </a:endParaRPr>
          </a:p>
        </p:txBody>
      </p:sp>
      <p:sp>
        <p:nvSpPr>
          <p:cNvPr id="4" name="PlaceHolder 3"/>
          <p:cNvSpPr>
            <a:spLocks noGrp="1"/>
          </p:cNvSpPr>
          <p:nvPr>
            <p:ph type="ftr" idx="35"/>
          </p:nvPr>
        </p:nvSpPr>
        <p:spPr/>
        <p:txBody>
          <a:bodyPr/>
          <a:p>
            <a:r>
              <a:t>Footer</a:t>
            </a:r>
          </a:p>
        </p:txBody>
      </p:sp>
      <p:sp>
        <p:nvSpPr>
          <p:cNvPr id="5" name="PlaceHolder 4"/>
          <p:cNvSpPr>
            <a:spLocks noGrp="1"/>
          </p:cNvSpPr>
          <p:nvPr>
            <p:ph type="sldNum" idx="36"/>
          </p:nvPr>
        </p:nvSpPr>
        <p:spPr/>
        <p:txBody>
          <a:bodyPr/>
          <a:p>
            <a:fld id="{FAA491D6-85D1-41B7-8128-88265F823937}" type="slidenum">
              <a:t>&lt;#&gt;</a:t>
            </a:fld>
          </a:p>
        </p:txBody>
      </p:sp>
      <p:sp>
        <p:nvSpPr>
          <p:cNvPr id="6" name="PlaceHolder 5"/>
          <p:cNvSpPr>
            <a:spLocks noGrp="1"/>
          </p:cNvSpPr>
          <p:nvPr>
            <p:ph type="dt" idx="3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680"/>
            <a:ext cx="8228880" cy="11422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D5B55DC-B3FD-48C2-828F-E07E0CD053D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 name="PlaceHolder 2"/>
          <p:cNvSpPr>
            <a:spLocks noGrp="1"/>
          </p:cNvSpPr>
          <p:nvPr>
            <p:ph type="sldNum" idx="5"/>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662AEC5-1EE6-4E67-8503-FDDE0BFA3FC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9" name="PlaceHolder 3"/>
          <p:cNvSpPr>
            <a:spLocks noGrp="1"/>
          </p:cNvSpPr>
          <p:nvPr>
            <p:ph type="dt" idx="6"/>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2"/>
          <p:cNvSpPr>
            <a:spLocks noGrp="1"/>
          </p:cNvSpPr>
          <p:nvPr>
            <p:ph type="sldNum" idx="8"/>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1CA00DC3-449D-48BB-BF0A-655DD058F93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2" name="PlaceHolder 3"/>
          <p:cNvSpPr>
            <a:spLocks noGrp="1"/>
          </p:cNvSpPr>
          <p:nvPr>
            <p:ph type="dt" idx="9"/>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4680"/>
            <a:ext cx="8228880" cy="11422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 name="PlaceHolder 2"/>
          <p:cNvSpPr>
            <a:spLocks noGrp="1"/>
          </p:cNvSpPr>
          <p:nvPr>
            <p:ph type="body"/>
          </p:nvPr>
        </p:nvSpPr>
        <p:spPr>
          <a:xfrm>
            <a:off x="457200" y="1600200"/>
            <a:ext cx="8228880" cy="45252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 name="PlaceHolder 3"/>
          <p:cNvSpPr>
            <a:spLocks noGrp="1"/>
          </p:cNvSpPr>
          <p:nvPr>
            <p:ph type="ftr" idx="10"/>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 name="PlaceHolder 4"/>
          <p:cNvSpPr>
            <a:spLocks noGrp="1"/>
          </p:cNvSpPr>
          <p:nvPr>
            <p:ph type="sldNum" idx="11"/>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1E952DD5-2629-4927-8DF3-E684720F8AF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7" name="PlaceHolder 5"/>
          <p:cNvSpPr>
            <a:spLocks noGrp="1"/>
          </p:cNvSpPr>
          <p:nvPr>
            <p:ph type="dt" idx="12"/>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ftr" idx="13"/>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 name="PlaceHolder 2"/>
          <p:cNvSpPr>
            <a:spLocks noGrp="1"/>
          </p:cNvSpPr>
          <p:nvPr>
            <p:ph type="sldNum" idx="14"/>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E2AF9D2-5292-4F52-AC97-4D4F62DB799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2" name="PlaceHolder 3"/>
          <p:cNvSpPr>
            <a:spLocks noGrp="1"/>
          </p:cNvSpPr>
          <p:nvPr>
            <p:ph type="dt" idx="15"/>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22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 name="PlaceHolder 2"/>
          <p:cNvSpPr>
            <a:spLocks noGrp="1"/>
          </p:cNvSpPr>
          <p:nvPr>
            <p:ph type="body"/>
          </p:nvPr>
        </p:nvSpPr>
        <p:spPr>
          <a:xfrm>
            <a:off x="457200" y="1600200"/>
            <a:ext cx="4015440" cy="45252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 name="PlaceHolder 3"/>
          <p:cNvSpPr>
            <a:spLocks noGrp="1"/>
          </p:cNvSpPr>
          <p:nvPr>
            <p:ph type="body"/>
          </p:nvPr>
        </p:nvSpPr>
        <p:spPr>
          <a:xfrm>
            <a:off x="4674240" y="1600200"/>
            <a:ext cx="4015440" cy="45252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 name="PlaceHolder 4"/>
          <p:cNvSpPr>
            <a:spLocks noGrp="1"/>
          </p:cNvSpPr>
          <p:nvPr>
            <p:ph type="ftr" idx="16"/>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7"/>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9C1CD22-19AC-4A0F-A77C-A187F358D0B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8" name="PlaceHolder 6"/>
          <p:cNvSpPr>
            <a:spLocks noGrp="1"/>
          </p:cNvSpPr>
          <p:nvPr>
            <p:ph type="dt" idx="18"/>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ftr" idx="19"/>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2"/>
          <p:cNvSpPr>
            <a:spLocks noGrp="1"/>
          </p:cNvSpPr>
          <p:nvPr>
            <p:ph type="sldNum" idx="20"/>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B5788CE-A305-4975-9A80-21BDA9A1643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4" name="PlaceHolder 3"/>
          <p:cNvSpPr>
            <a:spLocks noGrp="1"/>
          </p:cNvSpPr>
          <p:nvPr>
            <p:ph type="dt" idx="21"/>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4680"/>
            <a:ext cx="8228880" cy="11422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 name="PlaceHolder 2"/>
          <p:cNvSpPr>
            <a:spLocks noGrp="1"/>
          </p:cNvSpPr>
          <p:nvPr>
            <p:ph type="ftr" idx="22"/>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 name="PlaceHolder 3"/>
          <p:cNvSpPr>
            <a:spLocks noGrp="1"/>
          </p:cNvSpPr>
          <p:nvPr>
            <p:ph type="sldNum" idx="23"/>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EDF59A4-CC7C-461B-9A3A-B828D9C12C5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8" name="PlaceHolder 4"/>
          <p:cNvSpPr>
            <a:spLocks noGrp="1"/>
          </p:cNvSpPr>
          <p:nvPr>
            <p:ph type="dt" idx="24"/>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9"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ftr" idx="25"/>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2" name="PlaceHolder 2"/>
          <p:cNvSpPr>
            <a:spLocks noGrp="1"/>
          </p:cNvSpPr>
          <p:nvPr>
            <p:ph type="sldNum" idx="26"/>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1F19073-5450-427F-BC21-EA80BA1821F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3" name="PlaceHolder 3"/>
          <p:cNvSpPr>
            <a:spLocks noGrp="1"/>
          </p:cNvSpPr>
          <p:nvPr>
            <p:ph type="dt" idx="27"/>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2"/>
          <p:cNvSpPr>
            <a:spLocks noGrp="1"/>
          </p:cNvSpPr>
          <p:nvPr>
            <p:ph type="sldNum" idx="29"/>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41FBBFE-D896-4679-B27C-F57C2DD9489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6" name="PlaceHolder 3"/>
          <p:cNvSpPr>
            <a:spLocks noGrp="1"/>
          </p:cNvSpPr>
          <p:nvPr>
            <p:ph type="dt" idx="30"/>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32"/>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91EA766-0E41-456E-88B5-76C18A536D7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9" name="PlaceHolder 3"/>
          <p:cNvSpPr>
            <a:spLocks noGrp="1"/>
          </p:cNvSpPr>
          <p:nvPr>
            <p:ph type="dt" idx="33"/>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
          <p:cNvSpPr/>
          <p:nvPr/>
        </p:nvSpPr>
        <p:spPr>
          <a:xfrm flipH="1" flipV="1">
            <a:off x="0" y="5442120"/>
            <a:ext cx="9144000" cy="1415160"/>
          </a:xfrm>
          <a:prstGeom prst="flowChartDocumen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0">
            <a:noFill/>
          </a:ln>
          <a:effectLst>
            <a:outerShdw dist="10800" dir="5400000" blurRad="0" rotWithShape="0">
              <a:srgbClr val="009bdd"/>
            </a:outerShdw>
          </a:effectLst>
        </p:spPr>
        <p:style>
          <a:lnRef idx="0"/>
          <a:fillRef idx="0"/>
          <a:effectRef idx="0"/>
          <a:fontRef idx="minor"/>
        </p:style>
        <p:txBody>
          <a:bodyPr lIns="90000" rIns="90000" tIns="45000" bIns="45000" anchor="ctr">
            <a:spAutoFit/>
          </a:bodyPr>
          <a:p>
            <a:endParaRPr b="0" lang="en-US" sz="1800" spc="-1" strike="noStrike">
              <a:solidFill>
                <a:srgbClr val="000000"/>
              </a:solidFill>
              <a:latin typeface="Arial"/>
            </a:endParaRPr>
          </a:p>
        </p:txBody>
      </p:sp>
      <p:sp>
        <p:nvSpPr>
          <p:cNvPr id="51" name="PlaceHolder 1"/>
          <p:cNvSpPr>
            <a:spLocks noGrp="1"/>
          </p:cNvSpPr>
          <p:nvPr>
            <p:ph type="title"/>
          </p:nvPr>
        </p:nvSpPr>
        <p:spPr>
          <a:xfrm>
            <a:off x="360" y="1959120"/>
            <a:ext cx="8164080" cy="1306440"/>
          </a:xfrm>
          <a:prstGeom prst="rect">
            <a:avLst/>
          </a:prstGeom>
          <a:noFill/>
          <a:ln w="0">
            <a:noFill/>
          </a:ln>
        </p:spPr>
        <p:txBody>
          <a:bodyPr lIns="0" rIns="0" tIns="0" bIns="0" anchor="ctr">
            <a:noAutofit/>
          </a:bodyPr>
          <a:p>
            <a:pPr indent="0" algn="ctr">
              <a:buNone/>
            </a:pPr>
            <a:r>
              <a:rPr b="0" lang="en-US" sz="3750" spc="-1" strike="noStrike">
                <a:solidFill>
                  <a:srgbClr val="dd4100"/>
                </a:solidFill>
                <a:latin typeface="Arial"/>
              </a:rPr>
              <a:t>Click to edit the title text format</a:t>
            </a:r>
            <a:endParaRPr b="0" lang="en-US" sz="3750" spc="-1" strike="noStrike">
              <a:solidFill>
                <a:srgbClr val="dd4100"/>
              </a:solidFill>
              <a:latin typeface="Arial"/>
            </a:endParaRPr>
          </a:p>
        </p:txBody>
      </p:sp>
      <p:sp>
        <p:nvSpPr>
          <p:cNvPr id="52" name="PlaceHolder 2"/>
          <p:cNvSpPr>
            <a:spLocks noGrp="1"/>
          </p:cNvSpPr>
          <p:nvPr>
            <p:ph type="body"/>
          </p:nvPr>
        </p:nvSpPr>
        <p:spPr>
          <a:xfrm>
            <a:off x="326520" y="3483000"/>
            <a:ext cx="8490960" cy="2062440"/>
          </a:xfrm>
          <a:prstGeom prst="rect">
            <a:avLst/>
          </a:prstGeom>
          <a:solidFill>
            <a:srgbClr val="729fcf"/>
          </a:solidFill>
          <a:ln w="0">
            <a:solidFill>
              <a:srgbClr val="3465a4"/>
            </a:solidFill>
          </a:ln>
        </p:spPr>
        <p:txBody>
          <a:bodyPr lIns="0" rIns="0" tIns="0" bIns="0" anchor="t">
            <a:noAutofit/>
          </a:bodyPr>
          <a:p>
            <a:pPr marL="432000" indent="-324000">
              <a:spcBef>
                <a:spcPts val="1281"/>
              </a:spcBef>
              <a:buClr>
                <a:srgbClr val="77caee"/>
              </a:buClr>
              <a:buSzPct val="45000"/>
              <a:buFont typeface="Wingdings" charset="2"/>
              <a:buChar char=""/>
            </a:pPr>
            <a:r>
              <a:rPr b="0" lang="en-US" sz="2900" spc="-1" strike="noStrike">
                <a:solidFill>
                  <a:srgbClr val="009bdd"/>
                </a:solidFill>
                <a:latin typeface="Arial"/>
              </a:rPr>
              <a:t>Click to edit the outline text format</a:t>
            </a:r>
            <a:endParaRPr b="0" lang="en-US" sz="2900" spc="-1" strike="noStrike">
              <a:solidFill>
                <a:srgbClr val="009bdd"/>
              </a:solidFill>
              <a:latin typeface="Arial"/>
            </a:endParaRPr>
          </a:p>
          <a:p>
            <a:pPr lvl="1" marL="864000" indent="-324000">
              <a:spcBef>
                <a:spcPts val="1026"/>
              </a:spcBef>
              <a:buClr>
                <a:srgbClr val="77caee"/>
              </a:buClr>
              <a:buSzPct val="45000"/>
              <a:buFont typeface="Wingdings" charset="2"/>
              <a:buChar char=""/>
            </a:pPr>
            <a:r>
              <a:rPr b="0" lang="en-US" sz="2540" spc="-1" strike="noStrike">
                <a:solidFill>
                  <a:srgbClr val="009bdd"/>
                </a:solidFill>
                <a:latin typeface="Arial"/>
              </a:rPr>
              <a:t>Second Outline Level</a:t>
            </a:r>
            <a:endParaRPr b="0" lang="en-US" sz="2540" spc="-1" strike="noStrike">
              <a:solidFill>
                <a:srgbClr val="009bdd"/>
              </a:solidFill>
              <a:latin typeface="Arial"/>
            </a:endParaRPr>
          </a:p>
          <a:p>
            <a:pPr lvl="2" marL="1296000" indent="-288000">
              <a:spcBef>
                <a:spcPts val="765"/>
              </a:spcBef>
              <a:buClr>
                <a:srgbClr val="77caee"/>
              </a:buClr>
              <a:buSzPct val="45000"/>
              <a:buFont typeface="Wingdings" charset="2"/>
              <a:buChar char=""/>
            </a:pPr>
            <a:r>
              <a:rPr b="0" lang="en-US" sz="2180" spc="-1" strike="noStrike">
                <a:solidFill>
                  <a:srgbClr val="009bdd"/>
                </a:solidFill>
                <a:latin typeface="Arial"/>
              </a:rPr>
              <a:t>Third Outline Level</a:t>
            </a:r>
            <a:endParaRPr b="0" lang="en-US" sz="2180" spc="-1" strike="noStrike">
              <a:solidFill>
                <a:srgbClr val="009bdd"/>
              </a:solidFill>
              <a:latin typeface="Arial"/>
            </a:endParaRPr>
          </a:p>
          <a:p>
            <a:pPr lvl="3" marL="1728000" indent="-216000">
              <a:spcBef>
                <a:spcPts val="507"/>
              </a:spcBef>
              <a:buClr>
                <a:srgbClr val="77caee"/>
              </a:buClr>
              <a:buSzPct val="45000"/>
              <a:buFont typeface="Wingdings" charset="2"/>
              <a:buChar char=""/>
            </a:pPr>
            <a:r>
              <a:rPr b="0" lang="en-US" sz="1810" spc="-1" strike="noStrike">
                <a:solidFill>
                  <a:srgbClr val="009bdd"/>
                </a:solidFill>
                <a:latin typeface="Arial"/>
              </a:rPr>
              <a:t>Fourth Outline Level</a:t>
            </a:r>
            <a:endParaRPr b="0" lang="en-US" sz="1810" spc="-1" strike="noStrike">
              <a:solidFill>
                <a:srgbClr val="009bdd"/>
              </a:solidFill>
              <a:latin typeface="Arial"/>
            </a:endParaRPr>
          </a:p>
          <a:p>
            <a:pPr lvl="4" marL="2160000" indent="-216000">
              <a:spcBef>
                <a:spcPts val="252"/>
              </a:spcBef>
              <a:buClr>
                <a:srgbClr val="77caee"/>
              </a:buClr>
              <a:buSzPct val="45000"/>
              <a:buFont typeface="Wingdings" charset="2"/>
              <a:buChar char=""/>
            </a:pPr>
            <a:r>
              <a:rPr b="0" lang="en-US" sz="2190" spc="-1" strike="noStrike">
                <a:solidFill>
                  <a:srgbClr val="009bdd"/>
                </a:solidFill>
                <a:latin typeface="Arial"/>
              </a:rPr>
              <a:t>Fifth Outline Level</a:t>
            </a:r>
            <a:endParaRPr b="0" lang="en-US" sz="2190" spc="-1" strike="noStrike">
              <a:solidFill>
                <a:srgbClr val="009bdd"/>
              </a:solidFill>
              <a:latin typeface="Arial"/>
            </a:endParaRPr>
          </a:p>
          <a:p>
            <a:pPr lvl="5" marL="2592000" indent="-216000">
              <a:spcBef>
                <a:spcPts val="303"/>
              </a:spcBef>
              <a:buClr>
                <a:srgbClr val="77caee"/>
              </a:buClr>
              <a:buSzPct val="45000"/>
              <a:buFont typeface="Wingdings" charset="2"/>
              <a:buChar char=""/>
            </a:pPr>
            <a:r>
              <a:rPr b="0" lang="en-US" sz="2640" spc="-1" strike="noStrike">
                <a:solidFill>
                  <a:srgbClr val="009bdd"/>
                </a:solidFill>
                <a:latin typeface="Arial"/>
              </a:rPr>
              <a:t>Sixth Outline Level</a:t>
            </a:r>
            <a:endParaRPr b="0" lang="en-US" sz="2640" spc="-1" strike="noStrike">
              <a:solidFill>
                <a:srgbClr val="009bdd"/>
              </a:solidFill>
              <a:latin typeface="Arial"/>
            </a:endParaRPr>
          </a:p>
          <a:p>
            <a:pPr lvl="6" marL="3024000" indent="-216000">
              <a:spcBef>
                <a:spcPts val="366"/>
              </a:spcBef>
              <a:buClr>
                <a:srgbClr val="77caee"/>
              </a:buClr>
              <a:buSzPct val="45000"/>
              <a:buFont typeface="Wingdings" charset="2"/>
              <a:buChar char=""/>
            </a:pPr>
            <a:r>
              <a:rPr b="0" lang="en-US" sz="3200" spc="-1" strike="noStrike">
                <a:solidFill>
                  <a:srgbClr val="009bdd"/>
                </a:solidFill>
                <a:latin typeface="Arial"/>
              </a:rPr>
              <a:t>Seventh Outline Level</a:t>
            </a:r>
            <a:endParaRPr b="0" lang="en-US" sz="3200" spc="-1" strike="noStrike">
              <a:solidFill>
                <a:srgbClr val="009bdd"/>
              </a:solidFill>
              <a:latin typeface="Arial"/>
            </a:endParaRPr>
          </a:p>
        </p:txBody>
      </p:sp>
      <p:sp>
        <p:nvSpPr>
          <p:cNvPr id="53" name="PlaceHolder 3"/>
          <p:cNvSpPr>
            <a:spLocks noGrp="1"/>
          </p:cNvSpPr>
          <p:nvPr>
            <p:ph type="dt" idx="34"/>
          </p:nvPr>
        </p:nvSpPr>
        <p:spPr>
          <a:xfrm>
            <a:off x="326520" y="6313680"/>
            <a:ext cx="2122560" cy="435600"/>
          </a:xfrm>
          <a:prstGeom prst="rect">
            <a:avLst/>
          </a:prstGeom>
          <a:noFill/>
          <a:ln w="0">
            <a:noFill/>
          </a:ln>
        </p:spPr>
        <p:txBody>
          <a:bodyPr lIns="0" rIns="0" tIns="0" bIns="0" anchor="t">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54" name="PlaceHolder 4"/>
          <p:cNvSpPr>
            <a:spLocks noGrp="1"/>
          </p:cNvSpPr>
          <p:nvPr>
            <p:ph type="ftr" idx="35"/>
          </p:nvPr>
        </p:nvSpPr>
        <p:spPr>
          <a:xfrm>
            <a:off x="3102120" y="6313680"/>
            <a:ext cx="2939040" cy="435600"/>
          </a:xfrm>
          <a:prstGeom prst="rect">
            <a:avLst/>
          </a:prstGeom>
          <a:noFill/>
          <a:ln w="0">
            <a:noFill/>
          </a:ln>
        </p:spPr>
        <p:txBody>
          <a:bodyPr lIns="0" rIns="0" tIns="0" bIns="0" anchor="t">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55" name="PlaceHolder 5"/>
          <p:cNvSpPr>
            <a:spLocks noGrp="1"/>
          </p:cNvSpPr>
          <p:nvPr>
            <p:ph type="sldNum" idx="36"/>
          </p:nvPr>
        </p:nvSpPr>
        <p:spPr>
          <a:xfrm>
            <a:off x="6694560" y="6313680"/>
            <a:ext cx="2122560" cy="435600"/>
          </a:xfrm>
          <a:prstGeom prst="rect">
            <a:avLst/>
          </a:prstGeom>
          <a:noFill/>
          <a:ln w="0">
            <a:noFill/>
          </a:ln>
        </p:spPr>
        <p:txBody>
          <a:bodyPr lIns="0" rIns="0" tIns="0" bIns="0" anchor="t">
            <a:noAutofit/>
          </a:bodyPr>
          <a:lstStyle>
            <a:lvl1pPr indent="0" algn="r">
              <a:buNone/>
              <a:defRPr b="0" lang="en-US" sz="1400" spc="-1" strike="noStrike">
                <a:solidFill>
                  <a:srgbClr val="ffffff"/>
                </a:solidFill>
                <a:latin typeface="Times New Roman"/>
              </a:defRPr>
            </a:lvl1pPr>
          </a:lstStyle>
          <a:p>
            <a:pPr indent="0" algn="r">
              <a:buNone/>
            </a:pPr>
            <a:fld id="{E28E9FDF-F81B-49C5-88EA-912F57A9E979}" type="slidenum">
              <a:rPr b="0" lang="en-US" sz="1400" spc="-1" strike="noStrike">
                <a:solidFill>
                  <a:srgbClr val="ffffff"/>
                </a:solidFill>
                <a:latin typeface="Times New Roman"/>
              </a:rPr>
              <a:t>&lt;number&gt;</a:t>
            </a:fld>
            <a:endParaRPr b="0" lang="en-US" sz="14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 id="2147483672" r:id="rId3"/>
    <p:sldLayoutId id="2147483673"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2.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2.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653760" y="1381320"/>
            <a:ext cx="7771680" cy="146916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Open Sans Semibold"/>
              </a:rPr>
              <a:t>Data Findings Report: Course Recommendation System</a:t>
            </a:r>
            <a:endParaRPr b="0" lang="en-US" sz="4400" spc="-1" strike="noStrike">
              <a:solidFill>
                <a:srgbClr val="dd4100"/>
              </a:solidFill>
              <a:latin typeface="Open Sans Semibold"/>
            </a:endParaRPr>
          </a:p>
        </p:txBody>
      </p:sp>
      <p:sp>
        <p:nvSpPr>
          <p:cNvPr id="62" name="PlaceHolder 2"/>
          <p:cNvSpPr>
            <a:spLocks noGrp="1"/>
          </p:cNvSpPr>
          <p:nvPr>
            <p:ph type="subTitle"/>
          </p:nvPr>
        </p:nvSpPr>
        <p:spPr>
          <a:xfrm>
            <a:off x="1387440" y="3515040"/>
            <a:ext cx="6400080" cy="1751760"/>
          </a:xfrm>
          <a:prstGeom prst="rect">
            <a:avLst/>
          </a:prstGeom>
          <a:noFill/>
          <a:ln w="0">
            <a:noFill/>
          </a:ln>
        </p:spPr>
        <p:txBody>
          <a:bodyPr lIns="91440" rIns="91440" tIns="45720" bIns="45720" anchor="t">
            <a:noAutofit/>
          </a:bodyPr>
          <a:p>
            <a:pPr indent="0" algn="ctr" defTabSz="457200">
              <a:lnSpc>
                <a:spcPct val="100000"/>
              </a:lnSpc>
              <a:spcBef>
                <a:spcPts val="641"/>
              </a:spcBef>
              <a:buNone/>
              <a:tabLst>
                <a:tab algn="l" pos="0"/>
              </a:tabLst>
            </a:pPr>
            <a:r>
              <a:rPr b="0" lang="en-US" sz="3200" spc="-1" strike="noStrike">
                <a:solidFill>
                  <a:srgbClr val="808080"/>
                </a:solidFill>
                <a:latin typeface="Calibri"/>
              </a:rPr>
              <a:t>IBM Machine Learning Professional Certificate Capstone Project</a:t>
            </a:r>
            <a:endParaRPr b="0" lang="en-US" sz="3200" spc="-1" strike="noStrike">
              <a:solidFill>
                <a:srgbClr val="808080"/>
              </a:solidFill>
              <a:highlight>
                <a:srgbClr val="ffffff"/>
              </a:highlight>
              <a:latin typeface="Arial"/>
            </a:endParaRPr>
          </a:p>
          <a:p>
            <a:pPr indent="0" algn="ctr" defTabSz="457200">
              <a:lnSpc>
                <a:spcPct val="100000"/>
              </a:lnSpc>
              <a:spcBef>
                <a:spcPts val="641"/>
              </a:spcBef>
              <a:buNone/>
              <a:tabLst>
                <a:tab algn="l" pos="0"/>
              </a:tabLst>
            </a:pPr>
            <a:r>
              <a:rPr b="0" lang="en-US" sz="3200" spc="-1" strike="noStrike">
                <a:solidFill>
                  <a:srgbClr val="808080"/>
                </a:solidFill>
                <a:latin typeface="Calibri"/>
              </a:rPr>
              <a:t>July 29, 2025</a:t>
            </a:r>
            <a:endParaRPr b="0" lang="en-US" sz="3200" spc="-1" strike="noStrike">
              <a:solidFill>
                <a:srgbClr val="808080"/>
              </a:solidFill>
              <a:highlight>
                <a:srgbClr val="ffffff"/>
              </a:highlight>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Executive Summary</a:t>
            </a:r>
            <a:endParaRPr b="0" lang="en-US" sz="4400" spc="-1" strike="noStrike">
              <a:solidFill>
                <a:srgbClr val="dd4100"/>
              </a:solidFill>
              <a:latin typeface="Arial"/>
            </a:endParaRPr>
          </a:p>
        </p:txBody>
      </p:sp>
      <p:sp>
        <p:nvSpPr>
          <p:cNvPr id="64" name="PlaceHolder 2"/>
          <p:cNvSpPr>
            <a:spLocks noGrp="1"/>
          </p:cNvSpPr>
          <p:nvPr>
            <p:ph/>
          </p:nvPr>
        </p:nvSpPr>
        <p:spPr>
          <a:xfrm>
            <a:off x="457200" y="1600200"/>
            <a:ext cx="8228880" cy="521352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Initial EDA revealed key insights into course popularity, genre distribution, and user enrollment.</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Feature engineering (Bag of Words) effectively transformed text data.</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Both content-based and collaborative filtering showed promising results.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Hybrid approaches and dimensionality reduction (PCA, NMF) enhanced accuracy and scalability.</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Table of Contents</a:t>
            </a:r>
            <a:endParaRPr b="0" lang="en-US" sz="4400" spc="-1" strike="noStrike">
              <a:solidFill>
                <a:srgbClr val="dd4100"/>
              </a:solidFill>
              <a:latin typeface="Arial"/>
            </a:endParaRPr>
          </a:p>
        </p:txBody>
      </p:sp>
      <p:sp>
        <p:nvSpPr>
          <p:cNvPr id="66" name="PlaceHolder 2"/>
          <p:cNvSpPr>
            <a:spLocks noGrp="1"/>
          </p:cNvSpPr>
          <p:nvPr>
            <p:ph/>
          </p:nvPr>
        </p:nvSpPr>
        <p:spPr>
          <a:xfrm>
            <a:off x="457200" y="1600200"/>
            <a:ext cx="8228880" cy="45252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Executive Summary</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Introduction</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Exploratory Data Analysis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Feature Engineering</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Recommendation System Implementations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Evaluation</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Innovative Insights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Conclusion</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Introduction: Project Goal &amp; Motivation</a:t>
            </a:r>
            <a:endParaRPr b="0" lang="en-US" sz="4400" spc="-1" strike="noStrike">
              <a:solidFill>
                <a:srgbClr val="dd4100"/>
              </a:solidFill>
              <a:latin typeface="Arial"/>
            </a:endParaRPr>
          </a:p>
        </p:txBody>
      </p:sp>
      <p:sp>
        <p:nvSpPr>
          <p:cNvPr id="68" name="PlaceHolder 2"/>
          <p:cNvSpPr>
            <a:spLocks noGrp="1"/>
          </p:cNvSpPr>
          <p:nvPr>
            <p:ph/>
          </p:nvPr>
        </p:nvSpPr>
        <p:spPr>
          <a:xfrm>
            <a:off x="457200" y="1600200"/>
            <a:ext cx="8228880" cy="39783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Project Goal: To develop a robust course recommendation system for an online learning platform.</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Motivation: Enhance user engagement and learning paths by providing personalized course suggestions.</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Introduction: Methodology &amp; Target Audience</a:t>
            </a:r>
            <a:endParaRPr b="0" lang="en-US" sz="4400" spc="-1" strike="noStrike">
              <a:solidFill>
                <a:srgbClr val="dd4100"/>
              </a:solidFill>
              <a:latin typeface="Arial"/>
            </a:endParaRPr>
          </a:p>
        </p:txBody>
      </p:sp>
      <p:sp>
        <p:nvSpPr>
          <p:cNvPr id="70" name="PlaceHolder 2"/>
          <p:cNvSpPr>
            <a:spLocks noGrp="1"/>
          </p:cNvSpPr>
          <p:nvPr>
            <p:ph/>
          </p:nvPr>
        </p:nvSpPr>
        <p:spPr>
          <a:xfrm>
            <a:off x="457200" y="1600200"/>
            <a:ext cx="8228880" cy="45288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Methodology Overview: This report details the process of building a recommendation engine, covering data analysis, feature engineering, and the implementation and evaluation of various recommendation algorithms, including content-based filtering, collaborative filtering (KNN, NMF, and neural network embeddings), and hybrid approaches.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Target Audience: This report is intended for stakeholders, data scientists, and product managers interested in understanding the development and performance of the course recommendation system.</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Introduction: Report Structure</a:t>
            </a:r>
            <a:endParaRPr b="0" lang="en-US" sz="4400" spc="-1" strike="noStrike">
              <a:solidFill>
                <a:srgbClr val="dd4100"/>
              </a:solidFill>
              <a:latin typeface="Arial"/>
            </a:endParaRPr>
          </a:p>
        </p:txBody>
      </p:sp>
      <p:sp>
        <p:nvSpPr>
          <p:cNvPr id="72" name="PlaceHolder 2"/>
          <p:cNvSpPr>
            <a:spLocks noGrp="1"/>
          </p:cNvSpPr>
          <p:nvPr>
            <p:ph/>
          </p:nvPr>
        </p:nvSpPr>
        <p:spPr>
          <a:xfrm>
            <a:off x="457200" y="1600200"/>
            <a:ext cx="8228880" cy="4525200"/>
          </a:xfrm>
          <a:prstGeom prst="rect">
            <a:avLst/>
          </a:prstGeom>
          <a:noFill/>
          <a:ln w="0">
            <a:noFill/>
          </a:ln>
        </p:spPr>
        <p:txBody>
          <a:bodyPr lIns="91440" rIns="91440" tIns="45720" bIns="45720" anchor="t">
            <a:noAutofit/>
          </a:bodyPr>
          <a:p>
            <a:pPr indent="0" defTabSz="457200">
              <a:lnSpc>
                <a:spcPct val="100000"/>
              </a:lnSpc>
              <a:spcBef>
                <a:spcPts val="641"/>
              </a:spcBef>
              <a:buNone/>
              <a:tabLst>
                <a:tab algn="l" pos="0"/>
              </a:tabLst>
            </a:pP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tabLst>
                <a:tab algn="l" pos="0"/>
              </a:tabLst>
            </a:pPr>
            <a:r>
              <a:rPr b="0" lang="en-US" sz="2200" spc="-1" strike="noStrike">
                <a:solidFill>
                  <a:schemeClr val="dk1"/>
                </a:solidFill>
                <a:latin typeface="Calibri"/>
              </a:rPr>
              <a:t>Introduction: Overview of project, goals, and methodology.</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tabLst>
                <a:tab algn="l" pos="0"/>
              </a:tabLst>
            </a:pPr>
            <a:r>
              <a:rPr b="0" lang="en-US" sz="2200" spc="-1" strike="noStrike">
                <a:solidFill>
                  <a:schemeClr val="dk1"/>
                </a:solidFill>
                <a:latin typeface="Calibri"/>
              </a:rPr>
              <a:t>Exploratory Data Analysis: Insights from initial data exploration.</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tabLst>
                <a:tab algn="l" pos="0"/>
              </a:tabLst>
            </a:pPr>
            <a:r>
              <a:rPr b="0" lang="en-US" sz="2200" spc="-1" strike="noStrike">
                <a:solidFill>
                  <a:schemeClr val="dk1"/>
                </a:solidFill>
                <a:latin typeface="Calibri"/>
              </a:rPr>
              <a:t>Feature Engineering: Preparing data for model training.</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tabLst>
                <a:tab algn="l" pos="0"/>
              </a:tabLst>
            </a:pPr>
            <a:r>
              <a:rPr b="0" lang="en-US" sz="2200" spc="-1" strike="noStrike">
                <a:solidFill>
                  <a:schemeClr val="dk1"/>
                </a:solidFill>
                <a:latin typeface="Calibri"/>
              </a:rPr>
              <a:t>Recommendation System Implementations: Algorithms used and results.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tabLst>
                <a:tab algn="l" pos="0"/>
              </a:tabLst>
            </a:pPr>
            <a:r>
              <a:rPr b="0" lang="en-US" sz="2200" spc="-1" strike="noStrike">
                <a:solidFill>
                  <a:schemeClr val="dk1"/>
                </a:solidFill>
                <a:latin typeface="Calibri"/>
              </a:rPr>
              <a:t>Evaluation: Performance comparison of approaches.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tabLst>
                <a:tab algn="l" pos="0"/>
              </a:tabLst>
            </a:pPr>
            <a:r>
              <a:rPr b="0" lang="en-US" sz="2200" spc="-1" strike="noStrike">
                <a:solidFill>
                  <a:schemeClr val="dk1"/>
                </a:solidFill>
                <a:latin typeface="Calibri"/>
              </a:rPr>
              <a:t>Conclusion: Project outcomes and future work.</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Exploratory Data Analysis: Course Titles &amp; Genres</a:t>
            </a:r>
            <a:endParaRPr b="0" lang="en-US" sz="4400" spc="-1" strike="noStrike">
              <a:solidFill>
                <a:srgbClr val="dd4100"/>
              </a:solidFill>
              <a:latin typeface="Arial"/>
            </a:endParaRPr>
          </a:p>
        </p:txBody>
      </p:sp>
      <p:sp>
        <p:nvSpPr>
          <p:cNvPr id="74" name="PlaceHolder 2"/>
          <p:cNvSpPr>
            <a:spLocks noGrp="1"/>
          </p:cNvSpPr>
          <p:nvPr>
            <p:ph/>
          </p:nvPr>
        </p:nvSpPr>
        <p:spPr>
          <a:xfrm>
            <a:off x="457200" y="1600200"/>
            <a:ext cx="8228880" cy="39783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Keyword Analysis: Word cloud reveals focus on IT skills (Python, data science, machine learning, big data, AI, TensorFlow, cloud, containers).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Genre Distribution: BackendDev, MachineLearning, Database, DataAnalysis are most frequent categories.</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Course Titles &amp; Genres Visualizations</a:t>
            </a:r>
            <a:endParaRPr b="0" lang="en-US" sz="4400" spc="-1" strike="noStrike">
              <a:solidFill>
                <a:srgbClr val="dd4100"/>
              </a:solidFill>
              <a:latin typeface="Arial"/>
            </a:endParaRPr>
          </a:p>
        </p:txBody>
      </p:sp>
      <p:pic>
        <p:nvPicPr>
          <p:cNvPr id="76" name="Picture 2" descr="eda_wordcloud.png"/>
          <p:cNvPicPr/>
          <p:nvPr/>
        </p:nvPicPr>
        <p:blipFill>
          <a:blip r:embed="rId1"/>
          <a:stretch/>
        </p:blipFill>
        <p:spPr>
          <a:xfrm>
            <a:off x="457200" y="2286000"/>
            <a:ext cx="4114080" cy="3656880"/>
          </a:xfrm>
          <a:prstGeom prst="rect">
            <a:avLst/>
          </a:prstGeom>
          <a:ln w="0">
            <a:noFill/>
          </a:ln>
        </p:spPr>
      </p:pic>
      <p:pic>
        <p:nvPicPr>
          <p:cNvPr id="77" name="Picture 3" descr="eda_genrecounts.png"/>
          <p:cNvPicPr/>
          <p:nvPr/>
        </p:nvPicPr>
        <p:blipFill>
          <a:blip r:embed="rId2"/>
          <a:stretch/>
        </p:blipFill>
        <p:spPr>
          <a:xfrm>
            <a:off x="4572000" y="2286000"/>
            <a:ext cx="4114080" cy="365688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Exploratory Data Analysis: Course Enrollments</a:t>
            </a:r>
            <a:endParaRPr b="0" lang="en-US" sz="4400" spc="-1" strike="noStrike">
              <a:solidFill>
                <a:srgbClr val="dd4100"/>
              </a:solidFill>
              <a:latin typeface="Arial"/>
            </a:endParaRPr>
          </a:p>
        </p:txBody>
      </p:sp>
      <p:sp>
        <p:nvSpPr>
          <p:cNvPr id="79" name="PlaceHolder 2"/>
          <p:cNvSpPr>
            <a:spLocks noGrp="1"/>
          </p:cNvSpPr>
          <p:nvPr>
            <p:ph/>
          </p:nvPr>
        </p:nvSpPr>
        <p:spPr>
          <a:xfrm>
            <a:off x="457200" y="1600200"/>
            <a:ext cx="8228880" cy="39783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User Enrollment Statistics: 233,306 total enrollments from 33,901 unique users. Avg. 7 courses/user, max 61.</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Top Courses: Top 20 courses account for &gt;63% of enrollments. 'Introduction to Python' is most popular (&gt;15,000 enrollments).</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Course Enrollments Visualization</a:t>
            </a:r>
            <a:endParaRPr b="0" lang="en-US" sz="4400" spc="-1" strike="noStrike">
              <a:solidFill>
                <a:srgbClr val="dd4100"/>
              </a:solidFill>
              <a:latin typeface="Arial"/>
            </a:endParaRPr>
          </a:p>
        </p:txBody>
      </p:sp>
      <p:pic>
        <p:nvPicPr>
          <p:cNvPr id="81" name="Picture 2" descr="eda_hist.png"/>
          <p:cNvPicPr/>
          <p:nvPr/>
        </p:nvPicPr>
        <p:blipFill>
          <a:blip r:embed="rId1"/>
          <a:stretch/>
        </p:blipFill>
        <p:spPr>
          <a:xfrm>
            <a:off x="1828800" y="1371600"/>
            <a:ext cx="5485680" cy="45712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Feature Engineering: Bag of Words (BoW)</a:t>
            </a:r>
            <a:endParaRPr b="0" lang="en-US" sz="4400" spc="-1" strike="noStrike">
              <a:solidFill>
                <a:srgbClr val="dd4100"/>
              </a:solidFill>
              <a:latin typeface="Arial"/>
            </a:endParaRPr>
          </a:p>
        </p:txBody>
      </p:sp>
      <p:sp>
        <p:nvSpPr>
          <p:cNvPr id="83" name="PlaceHolder 2"/>
          <p:cNvSpPr>
            <a:spLocks noGrp="1"/>
          </p:cNvSpPr>
          <p:nvPr>
            <p:ph/>
          </p:nvPr>
        </p:nvSpPr>
        <p:spPr>
          <a:xfrm>
            <a:off x="457200" y="1600200"/>
            <a:ext cx="8228880" cy="52200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To prepare course text data for machine learning, Bag of Words (BoW) features were extracted from course titles and descriptions.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The process involved:</a:t>
            </a:r>
            <a:endParaRPr b="0" lang="en-US" sz="2200" spc="-1" strike="noStrike">
              <a:solidFill>
                <a:srgbClr val="009bdd"/>
              </a:solidFill>
              <a:latin typeface="Arial"/>
            </a:endParaRPr>
          </a:p>
          <a:p>
            <a:pPr lvl="1" marL="743040" indent="-285840" defTabSz="457200">
              <a:lnSpc>
                <a:spcPct val="100000"/>
              </a:lnSpc>
              <a:spcBef>
                <a:spcPts val="561"/>
              </a:spcBef>
              <a:buClr>
                <a:srgbClr val="000000"/>
              </a:buClr>
              <a:buFont typeface="Arial"/>
              <a:buChar char="–"/>
            </a:pPr>
            <a:r>
              <a:rPr b="0" lang="en-US" sz="2200" spc="-1" strike="noStrike">
                <a:solidFill>
                  <a:schemeClr val="dk1"/>
                </a:solidFill>
                <a:latin typeface="Calibri"/>
              </a:rPr>
              <a:t>Tokenization: Splitting the text into individual words (tokens).</a:t>
            </a:r>
            <a:endParaRPr b="0" lang="en-US" sz="2200" spc="-1" strike="noStrike">
              <a:solidFill>
                <a:srgbClr val="009bdd"/>
              </a:solidFill>
              <a:latin typeface="Arial"/>
            </a:endParaRPr>
          </a:p>
          <a:p>
            <a:pPr lvl="1" marL="743040" indent="-285840" defTabSz="457200">
              <a:lnSpc>
                <a:spcPct val="100000"/>
              </a:lnSpc>
              <a:spcBef>
                <a:spcPts val="561"/>
              </a:spcBef>
              <a:buClr>
                <a:srgbClr val="000000"/>
              </a:buClr>
              <a:buFont typeface="Arial"/>
              <a:buChar char="–"/>
            </a:pPr>
            <a:r>
              <a:rPr b="0" lang="en-US" sz="2200" spc="-1" strike="noStrike">
                <a:solidFill>
                  <a:schemeClr val="dk1"/>
                </a:solidFill>
                <a:latin typeface="Calibri"/>
              </a:rPr>
              <a:t>Stop Word Removal: Filtering out common, non-informative words.</a:t>
            </a:r>
            <a:endParaRPr b="0" lang="en-US" sz="2200" spc="-1" strike="noStrike">
              <a:solidFill>
                <a:srgbClr val="009bdd"/>
              </a:solidFill>
              <a:latin typeface="Arial"/>
            </a:endParaRPr>
          </a:p>
          <a:p>
            <a:pPr lvl="1" marL="743040" indent="-285840" defTabSz="457200">
              <a:lnSpc>
                <a:spcPct val="100000"/>
              </a:lnSpc>
              <a:spcBef>
                <a:spcPts val="561"/>
              </a:spcBef>
              <a:buClr>
                <a:srgbClr val="000000"/>
              </a:buClr>
              <a:buFont typeface="Arial"/>
              <a:buChar char="–"/>
            </a:pPr>
            <a:r>
              <a:rPr b="0" lang="en-US" sz="2200" spc="-1" strike="noStrike">
                <a:solidFill>
                  <a:schemeClr val="dk1"/>
                </a:solidFill>
                <a:latin typeface="Calibri"/>
              </a:rPr>
              <a:t>Part-of-Speech (POS) Tagging: Identifying and keeping only nouns.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Result: Each course represented by a vector of token counts.</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Course Similarity: Cosine Similarity</a:t>
            </a:r>
            <a:endParaRPr b="0" lang="en-US" sz="4400" spc="-1" strike="noStrike">
              <a:solidFill>
                <a:srgbClr val="dd4100"/>
              </a:solidFill>
              <a:latin typeface="Arial"/>
            </a:endParaRPr>
          </a:p>
        </p:txBody>
      </p:sp>
      <p:sp>
        <p:nvSpPr>
          <p:cNvPr id="85" name="PlaceHolder 2"/>
          <p:cNvSpPr>
            <a:spLocks noGrp="1"/>
          </p:cNvSpPr>
          <p:nvPr>
            <p:ph/>
          </p:nvPr>
        </p:nvSpPr>
        <p:spPr>
          <a:xfrm>
            <a:off x="457200" y="1600200"/>
            <a:ext cx="8228880" cy="39783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Cosine Similarity: BoW feature vectors used to measure likeness between courses.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Example: Finding courses similar to 'Machine Learning with Python' based on high cosine similarity scores.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This forms the basis for a content-based recommender system.</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Content-Based RS: User Profile &amp; Genres (Methodology)</a:t>
            </a:r>
            <a:endParaRPr b="0" lang="en-US" sz="4400" spc="-1" strike="noStrike">
              <a:solidFill>
                <a:srgbClr val="dd4100"/>
              </a:solidFill>
              <a:latin typeface="Arial"/>
            </a:endParaRPr>
          </a:p>
        </p:txBody>
      </p:sp>
      <p:sp>
        <p:nvSpPr>
          <p:cNvPr id="87" name="PlaceHolder 2"/>
          <p:cNvSpPr>
            <a:spLocks noGrp="1"/>
          </p:cNvSpPr>
          <p:nvPr>
            <p:ph/>
          </p:nvPr>
        </p:nvSpPr>
        <p:spPr>
          <a:xfrm>
            <a:off x="457200" y="1600200"/>
            <a:ext cx="8228880" cy="45630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User profiles are generated by creating a weighted genre vector. This vector is calculated by multiplying a user's course ratings with the genre vectors of the courses they have rated.</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Recommendation scores are computed by taking the dot product of a user's profile vector and the genre vector of a course they have not yet taken.</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Content-Based RS: User Profile &amp; Genres (Results)</a:t>
            </a:r>
            <a:endParaRPr b="0" lang="en-US" sz="4400" spc="-1" strike="noStrike">
              <a:solidFill>
                <a:srgbClr val="dd4100"/>
              </a:solidFill>
              <a:latin typeface="Arial"/>
            </a:endParaRPr>
          </a:p>
        </p:txBody>
      </p:sp>
      <p:sp>
        <p:nvSpPr>
          <p:cNvPr id="89" name="PlaceHolder 2"/>
          <p:cNvSpPr>
            <a:spLocks noGrp="1"/>
          </p:cNvSpPr>
          <p:nvPr>
            <p:ph/>
          </p:nvPr>
        </p:nvSpPr>
        <p:spPr>
          <a:xfrm>
            <a:off x="457200" y="1600200"/>
            <a:ext cx="8228880" cy="39783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The system successfully generates personalized course recommendations. For example, a user with a strong interest in Python and Machine Learning receives recommendations for courses like Python 101 and Machine Learning with R.</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User Profile &amp; Course Genres Visualization</a:t>
            </a:r>
            <a:endParaRPr b="0" lang="en-US" sz="4400" spc="-1" strike="noStrike">
              <a:solidFill>
                <a:srgbClr val="dd4100"/>
              </a:solidFill>
              <a:latin typeface="Arial"/>
            </a:endParaRPr>
          </a:p>
        </p:txBody>
      </p:sp>
      <p:pic>
        <p:nvPicPr>
          <p:cNvPr id="91" name="Picture 2" descr="user_profile_bar.png"/>
          <p:cNvPicPr/>
          <p:nvPr/>
        </p:nvPicPr>
        <p:blipFill>
          <a:blip r:embed="rId1"/>
          <a:stretch/>
        </p:blipFill>
        <p:spPr>
          <a:xfrm>
            <a:off x="1828800" y="2514600"/>
            <a:ext cx="5485680" cy="342828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Content-Based RS: Course Similarity (Methodology)</a:t>
            </a:r>
            <a:endParaRPr b="0" lang="en-US" sz="4400" spc="-1" strike="noStrike">
              <a:solidFill>
                <a:srgbClr val="dd4100"/>
              </a:solidFill>
              <a:latin typeface="Arial"/>
            </a:endParaRPr>
          </a:p>
        </p:txBody>
      </p:sp>
      <p:sp>
        <p:nvSpPr>
          <p:cNvPr id="93" name="PlaceHolder 2"/>
          <p:cNvSpPr>
            <a:spLocks noGrp="1"/>
          </p:cNvSpPr>
          <p:nvPr>
            <p:ph/>
          </p:nvPr>
        </p:nvSpPr>
        <p:spPr>
          <a:xfrm>
            <a:off x="457200" y="1600200"/>
            <a:ext cx="8228880" cy="49248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A course-to-course similarity matrix is computed using the Bag of Words (BoW) features of each course. The similarity score ranges from 0 to 1, where 1 indicates a perfect match.</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To recommend courses, the system takes a user's list of enrolled courses and a similarity threshold (e.g., &gt; 0.6) as input. It iterates through each enrolled course and finds other courses with a similarity score above the threshold. The system aggregates all unique, similar courses that the user has not already taken and sorts them by their similarity score to generate a ranked list of recommendations.</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Content-Based RS: Course Similarity (Results)</a:t>
            </a:r>
            <a:endParaRPr b="0" lang="en-US" sz="4400" spc="-1" strike="noStrike">
              <a:solidFill>
                <a:srgbClr val="dd4100"/>
              </a:solidFill>
              <a:latin typeface="Arial"/>
            </a:endParaRPr>
          </a:p>
        </p:txBody>
      </p:sp>
      <p:sp>
        <p:nvSpPr>
          <p:cNvPr id="95" name="PlaceHolder 2"/>
          <p:cNvSpPr>
            <a:spLocks noGrp="1"/>
          </p:cNvSpPr>
          <p:nvPr>
            <p:ph/>
          </p:nvPr>
        </p:nvSpPr>
        <p:spPr>
          <a:xfrm>
            <a:off x="457200" y="1600200"/>
            <a:ext cx="8228880" cy="45630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The system effectively recommends new courses based on a user's enrollment history. For instance, if a user is enrolled in machine learning courses, the recommender suggests other relevant courses in data science, deep learning, and Python.</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Example: Given a set of enrolled courses, the system identifies and ranks 20 new courses with a similarity greater than 0.6.</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Course Similarity Visualization</a:t>
            </a:r>
            <a:endParaRPr b="0" lang="en-US" sz="4400" spc="-1" strike="noStrike">
              <a:solidFill>
                <a:srgbClr val="dd4100"/>
              </a:solidFill>
              <a:latin typeface="Arial"/>
            </a:endParaRPr>
          </a:p>
        </p:txBody>
      </p:sp>
      <p:pic>
        <p:nvPicPr>
          <p:cNvPr id="97" name="Picture 2" descr="course_similarity_heatmap.png"/>
          <p:cNvPicPr/>
          <p:nvPr/>
        </p:nvPicPr>
        <p:blipFill>
          <a:blip r:embed="rId1"/>
          <a:stretch/>
        </p:blipFill>
        <p:spPr>
          <a:xfrm>
            <a:off x="1828800" y="1371600"/>
            <a:ext cx="5485680" cy="457128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Content-Based RS: User Profile Clustering (Methodology)</a:t>
            </a:r>
            <a:endParaRPr b="0" lang="en-US" sz="4400" spc="-1" strike="noStrike">
              <a:solidFill>
                <a:srgbClr val="dd4100"/>
              </a:solidFill>
              <a:latin typeface="Arial"/>
            </a:endParaRPr>
          </a:p>
        </p:txBody>
      </p:sp>
      <p:sp>
        <p:nvSpPr>
          <p:cNvPr id="99" name="PlaceHolder 2"/>
          <p:cNvSpPr>
            <a:spLocks noGrp="1"/>
          </p:cNvSpPr>
          <p:nvPr>
            <p:ph/>
          </p:nvPr>
        </p:nvSpPr>
        <p:spPr>
          <a:xfrm>
            <a:off x="457200" y="1600200"/>
            <a:ext cx="8228880" cy="50702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This approach groups users with similar interests into clusters and then recommends popular courses from within those clusters. Two methods were tested:</a:t>
            </a:r>
            <a:endParaRPr b="0" lang="en-US" sz="2000" spc="-1" strike="noStrike">
              <a:solidFill>
                <a:srgbClr val="009bdd"/>
              </a:solidFill>
              <a:latin typeface="Arial"/>
            </a:endParaRPr>
          </a:p>
          <a:p>
            <a:pPr lvl="1" marL="743040" indent="-285840" defTabSz="457200">
              <a:lnSpc>
                <a:spcPct val="100000"/>
              </a:lnSpc>
              <a:spcBef>
                <a:spcPts val="561"/>
              </a:spcBef>
              <a:buClr>
                <a:srgbClr val="000000"/>
              </a:buClr>
              <a:buFont typeface="Arial"/>
              <a:buChar char="–"/>
            </a:pPr>
            <a:r>
              <a:rPr b="0" lang="en-US" sz="2000" spc="-1" strike="noStrike">
                <a:solidFill>
                  <a:schemeClr val="dk1"/>
                </a:solidFill>
                <a:latin typeface="Calibri"/>
              </a:rPr>
              <a:t>1. Clustering on Original Features: K-Means on 14 standardized user-profile features. Optimal k=10 (elbow method).</a:t>
            </a:r>
            <a:endParaRPr b="0" lang="en-US" sz="2000" spc="-1" strike="noStrike">
              <a:solidFill>
                <a:srgbClr val="009bdd"/>
              </a:solidFill>
              <a:latin typeface="Arial"/>
            </a:endParaRPr>
          </a:p>
          <a:p>
            <a:pPr lvl="1" marL="743040" indent="-285840" defTabSz="457200">
              <a:lnSpc>
                <a:spcPct val="100000"/>
              </a:lnSpc>
              <a:spcBef>
                <a:spcPts val="561"/>
              </a:spcBef>
              <a:buClr>
                <a:srgbClr val="000000"/>
              </a:buClr>
              <a:buFont typeface="Arial"/>
              <a:buChar char="–"/>
            </a:pPr>
            <a:r>
              <a:rPr b="0" lang="en-US" sz="2000" spc="-1" strike="noStrike">
                <a:solidFill>
                  <a:schemeClr val="dk1"/>
                </a:solidFill>
                <a:latin typeface="Calibri"/>
              </a:rPr>
              <a:t>2. Clustering on PCA-Reduced Features: PCA reduced dimensionality (9 components explain &gt;90% variance). K-Means on 9 components, optimal k=20.</a:t>
            </a:r>
            <a:endParaRPr b="0" lang="en-US" sz="20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For a given user, the system identifies their cluster and recommends the most frequently enrolled courses by other users in the same cluster, excluding courses the user has already taken.</a:t>
            </a:r>
            <a:endParaRPr b="0" lang="en-US" sz="20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Content-Based RS: User Profile Clustering (Results)</a:t>
            </a:r>
            <a:endParaRPr b="0" lang="en-US" sz="4400" spc="-1" strike="noStrike">
              <a:solidFill>
                <a:srgbClr val="dd4100"/>
              </a:solidFill>
              <a:latin typeface="Arial"/>
            </a:endParaRPr>
          </a:p>
        </p:txBody>
      </p:sp>
      <p:sp>
        <p:nvSpPr>
          <p:cNvPr id="101" name="PlaceHolder 2"/>
          <p:cNvSpPr>
            <a:spLocks noGrp="1"/>
          </p:cNvSpPr>
          <p:nvPr>
            <p:ph/>
          </p:nvPr>
        </p:nvSpPr>
        <p:spPr>
          <a:xfrm>
            <a:off x="457200" y="1600200"/>
            <a:ext cx="8228880" cy="40752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Both methods successfully created meaningful user clusters, or 'learning communities,' based on shared interests.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When tested on a sample user, both approaches generated relevant course recommendations. The PCA-based method produced comparable recommendations while being more computationally efficient.</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User Profile Clustering Visualizations</a:t>
            </a:r>
            <a:endParaRPr b="0" lang="en-US" sz="4400" spc="-1" strike="noStrike">
              <a:solidFill>
                <a:srgbClr val="dd4100"/>
              </a:solidFill>
              <a:latin typeface="Arial"/>
            </a:endParaRPr>
          </a:p>
        </p:txBody>
      </p:sp>
      <p:pic>
        <p:nvPicPr>
          <p:cNvPr id="103" name="Picture 2" descr="cluster_elbow.png"/>
          <p:cNvPicPr/>
          <p:nvPr/>
        </p:nvPicPr>
        <p:blipFill>
          <a:blip r:embed="rId1"/>
          <a:stretch/>
        </p:blipFill>
        <p:spPr>
          <a:xfrm>
            <a:off x="457200" y="2057400"/>
            <a:ext cx="4114080" cy="3885480"/>
          </a:xfrm>
          <a:prstGeom prst="rect">
            <a:avLst/>
          </a:prstGeom>
          <a:ln w="0">
            <a:noFill/>
          </a:ln>
        </p:spPr>
      </p:pic>
      <p:pic>
        <p:nvPicPr>
          <p:cNvPr id="104" name="Picture 3" descr="cluster_covariance.png"/>
          <p:cNvPicPr/>
          <p:nvPr/>
        </p:nvPicPr>
        <p:blipFill>
          <a:blip r:embed="rId2"/>
          <a:stretch/>
        </p:blipFill>
        <p:spPr>
          <a:xfrm>
            <a:off x="4572000" y="2057400"/>
            <a:ext cx="4114080" cy="388548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KNN-Based Collaborative Filtering</a:t>
            </a:r>
            <a:endParaRPr b="0" lang="en-US" sz="4400" spc="-1" strike="noStrike">
              <a:solidFill>
                <a:srgbClr val="dd4100"/>
              </a:solidFill>
              <a:latin typeface="Arial"/>
            </a:endParaRPr>
          </a:p>
        </p:txBody>
      </p:sp>
      <p:sp>
        <p:nvSpPr>
          <p:cNvPr id="106" name="PlaceHolder 2"/>
          <p:cNvSpPr>
            <a:spLocks noGrp="1"/>
          </p:cNvSpPr>
          <p:nvPr>
            <p:ph/>
          </p:nvPr>
        </p:nvSpPr>
        <p:spPr>
          <a:xfrm>
            <a:off x="457200" y="1600200"/>
            <a:ext cx="8228880" cy="43574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Overview: Collaborative filtering (CF) is a widely used recommendation approach, categorized into user-based (finding similar users) and item-based (finding similar items) methods.</a:t>
            </a:r>
            <a:endParaRPr b="0" lang="en-US" sz="20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KNN Approach: User-based (calculates similarity between user rating vectors to identify k nearest neighbors) or Item-based (calculates similarity between item rating vectors to find similar items).</a:t>
            </a:r>
            <a:endParaRPr b="0" lang="en-US" sz="20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Example: A predicted rating of 2.77 for a course with a true rating of 3.0 resulted in an RMSE of 0.22, indicating high prediction accuracy.</a:t>
            </a:r>
            <a:endParaRPr b="0" lang="en-US" sz="20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Conclusion: KNN-based CF is effective but can be memory-intensive due to large similarity matrices. Future work may explore less memory-demanding CF approaches.</a:t>
            </a:r>
            <a:endParaRPr b="0" lang="en-US" sz="20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NMF-Based Collaborative Filtering (Overview &amp; Methodology)</a:t>
            </a:r>
            <a:endParaRPr b="0" lang="en-US" sz="4400" spc="-1" strike="noStrike">
              <a:solidFill>
                <a:srgbClr val="dd4100"/>
              </a:solidFill>
              <a:latin typeface="Arial"/>
            </a:endParaRPr>
          </a:p>
        </p:txBody>
      </p:sp>
      <p:sp>
        <p:nvSpPr>
          <p:cNvPr id="108" name="PlaceHolder 2"/>
          <p:cNvSpPr>
            <a:spLocks noGrp="1"/>
          </p:cNvSpPr>
          <p:nvPr>
            <p:ph/>
          </p:nvPr>
        </p:nvSpPr>
        <p:spPr>
          <a:xfrm>
            <a:off x="457200" y="1600200"/>
            <a:ext cx="8228880" cy="42760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Overview: Non-negative Matrix Factorization (NMF) is a dimensionality reduction technique used to address the scalability issues of memory-based collaborative filtering methods like KNN.</a:t>
            </a:r>
            <a:endParaRPr b="0" lang="en-US" sz="20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Methodology: NMF decomposes a large, sparse user-item interaction matrix into two smaller, dense matrices: A user feature matrix (U) and an item feature matrix (I).</a:t>
            </a:r>
            <a:endParaRPr b="0" lang="en-US" sz="20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The product of a user's latent feature vector from U and an item's latent feature vector from I provides an estimation of the original rating. The values in U and I are optimized by minimizing a cost function (e.g., squared difference between actual and estimated ratings) using optimization algorithms like Stochastic Gradient Descent (SGD).</a:t>
            </a:r>
            <a:endParaRPr b="0" lang="en-US" sz="20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NMF-Based Collaborative Filtering (Results)</a:t>
            </a:r>
            <a:endParaRPr b="0" lang="en-US" sz="4400" spc="-1" strike="noStrike">
              <a:solidFill>
                <a:srgbClr val="dd4100"/>
              </a:solidFill>
              <a:latin typeface="Arial"/>
            </a:endParaRPr>
          </a:p>
        </p:txBody>
      </p:sp>
      <p:sp>
        <p:nvSpPr>
          <p:cNvPr id="110" name="PlaceHolder 2"/>
          <p:cNvSpPr>
            <a:spLocks noGrp="1"/>
          </p:cNvSpPr>
          <p:nvPr>
            <p:ph/>
          </p:nvPr>
        </p:nvSpPr>
        <p:spPr>
          <a:xfrm>
            <a:off x="457200" y="1600200"/>
            <a:ext cx="8228880" cy="39783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The NMF model achieved a Root Mean Squared Error (RMSE) of 1.3078 on the test set, indicating its predictive accuracy in estimating user ratings.</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Neural Network Embedding-Based CF (Overview &amp; Results)</a:t>
            </a:r>
            <a:endParaRPr b="0" lang="en-US" sz="4400" spc="-1" strike="noStrike">
              <a:solidFill>
                <a:srgbClr val="dd4100"/>
              </a:solidFill>
              <a:latin typeface="Arial"/>
            </a:endParaRPr>
          </a:p>
        </p:txBody>
      </p:sp>
      <p:sp>
        <p:nvSpPr>
          <p:cNvPr id="112" name="PlaceHolder 2"/>
          <p:cNvSpPr>
            <a:spLocks noGrp="1"/>
          </p:cNvSpPr>
          <p:nvPr>
            <p:ph/>
          </p:nvPr>
        </p:nvSpPr>
        <p:spPr>
          <a:xfrm>
            <a:off x="457200" y="1600200"/>
            <a:ext cx="8228880" cy="42760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Overview: Neural networks can be effectively used to extract latent user and item features, similar to NMF, for collaborative filtering. This approach allows for rating prediction without explicitly pre-building feature vectors.</a:t>
            </a:r>
            <a:endParaRPr b="0" lang="en-US" sz="20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Results: The model achieved a root_mean_squared_error of approximately 0.0894 on the training set and 0.1218 on the validation set after 10 epochs, demonstrating its ability to predict course ratings.</a:t>
            </a:r>
            <a:endParaRPr b="0" lang="en-US" sz="20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The weights learned by the user_embedding_layer and item_embedding_layer within the trained neural network represent the extracted latent features for users and items (e.g., 16-dimensional latent feature vector for each user/item).</a:t>
            </a:r>
            <a:endParaRPr b="0" lang="en-US" sz="20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Neural Network Embedding-Based CF Visualization</a:t>
            </a:r>
            <a:endParaRPr b="0" lang="en-US" sz="4400" spc="-1" strike="noStrike">
              <a:solidFill>
                <a:srgbClr val="dd4100"/>
              </a:solidFill>
              <a:latin typeface="Arial"/>
            </a:endParaRPr>
          </a:p>
        </p:txBody>
      </p:sp>
      <p:pic>
        <p:nvPicPr>
          <p:cNvPr id="114" name="Picture 2" descr="nn_loss.png"/>
          <p:cNvPicPr/>
          <p:nvPr/>
        </p:nvPicPr>
        <p:blipFill>
          <a:blip r:embed="rId1"/>
          <a:stretch/>
        </p:blipFill>
        <p:spPr>
          <a:xfrm>
            <a:off x="1828800" y="1828800"/>
            <a:ext cx="5485680" cy="411408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Collaborative Filtering Algorithms Evaluation (KNN &amp; NMF)</a:t>
            </a:r>
            <a:endParaRPr b="0" lang="en-US" sz="4400" spc="-1" strike="noStrike">
              <a:solidFill>
                <a:srgbClr val="dd4100"/>
              </a:solidFill>
              <a:latin typeface="Arial"/>
            </a:endParaRPr>
          </a:p>
        </p:txBody>
      </p:sp>
      <p:sp>
        <p:nvSpPr>
          <p:cNvPr id="116" name="PlaceHolder 2"/>
          <p:cNvSpPr>
            <a:spLocks noGrp="1"/>
          </p:cNvSpPr>
          <p:nvPr>
            <p:ph/>
          </p:nvPr>
        </p:nvSpPr>
        <p:spPr>
          <a:xfrm>
            <a:off x="457200" y="1600200"/>
            <a:ext cx="8228880" cy="44222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KNN-based Collaborative Filtering:</a:t>
            </a:r>
            <a:endParaRPr b="0" lang="en-US" sz="2200" spc="-1" strike="noStrike">
              <a:solidFill>
                <a:srgbClr val="009bdd"/>
              </a:solidFill>
              <a:latin typeface="Arial"/>
            </a:endParaRPr>
          </a:p>
          <a:p>
            <a:pPr lvl="1" marL="743040" indent="-285840" defTabSz="457200">
              <a:lnSpc>
                <a:spcPct val="100000"/>
              </a:lnSpc>
              <a:spcBef>
                <a:spcPts val="561"/>
              </a:spcBef>
              <a:buClr>
                <a:srgbClr val="000000"/>
              </a:buClr>
              <a:buFont typeface="Arial"/>
              <a:buChar char="–"/>
            </a:pPr>
            <a:r>
              <a:rPr b="0" lang="en-US" sz="2200" spc="-1" strike="noStrike">
                <a:solidFill>
                  <a:schemeClr val="dk1"/>
                </a:solidFill>
                <a:latin typeface="Calibri"/>
              </a:rPr>
              <a:t>Metric: Root Mean Squared Error (RMSE).</a:t>
            </a:r>
            <a:endParaRPr b="0" lang="en-US" sz="2200" spc="-1" strike="noStrike">
              <a:solidFill>
                <a:srgbClr val="009bdd"/>
              </a:solidFill>
              <a:latin typeface="Arial"/>
            </a:endParaRPr>
          </a:p>
          <a:p>
            <a:pPr lvl="1" marL="743040" indent="-285840" defTabSz="457200">
              <a:lnSpc>
                <a:spcPct val="100000"/>
              </a:lnSpc>
              <a:spcBef>
                <a:spcPts val="561"/>
              </a:spcBef>
              <a:buClr>
                <a:srgbClr val="000000"/>
              </a:buClr>
              <a:buFont typeface="Arial"/>
              <a:buChar char="–"/>
            </a:pPr>
            <a:r>
              <a:rPr b="0" lang="en-US" sz="2200" spc="-1" strike="noStrike">
                <a:solidFill>
                  <a:schemeClr val="dk1"/>
                </a:solidFill>
                <a:latin typeface="Calibri"/>
              </a:rPr>
              <a:t>Result Example: Predicted rating of 2.77 (true 3.0) resulted in RMSE of 0.22 (high accuracy). Note: Effective but can be memory-intensive.</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NMF-based Collaborative Filtering:</a:t>
            </a:r>
            <a:endParaRPr b="0" lang="en-US" sz="2200" spc="-1" strike="noStrike">
              <a:solidFill>
                <a:srgbClr val="009bdd"/>
              </a:solidFill>
              <a:latin typeface="Arial"/>
            </a:endParaRPr>
          </a:p>
          <a:p>
            <a:pPr lvl="1" marL="743040" indent="-285840" defTabSz="457200">
              <a:lnSpc>
                <a:spcPct val="100000"/>
              </a:lnSpc>
              <a:spcBef>
                <a:spcPts val="561"/>
              </a:spcBef>
              <a:buClr>
                <a:srgbClr val="000000"/>
              </a:buClr>
              <a:buFont typeface="Arial"/>
              <a:buChar char="–"/>
            </a:pPr>
            <a:r>
              <a:rPr b="0" lang="en-US" sz="2200" spc="-1" strike="noStrike">
                <a:solidFill>
                  <a:schemeClr val="dk1"/>
                </a:solidFill>
                <a:latin typeface="Calibri"/>
              </a:rPr>
              <a:t>Metric: Root Mean Squared Error (RMSE).</a:t>
            </a:r>
            <a:endParaRPr b="0" lang="en-US" sz="2200" spc="-1" strike="noStrike">
              <a:solidFill>
                <a:srgbClr val="009bdd"/>
              </a:solidFill>
              <a:latin typeface="Arial"/>
            </a:endParaRPr>
          </a:p>
          <a:p>
            <a:pPr lvl="1" marL="743040" indent="-285840" defTabSz="457200">
              <a:lnSpc>
                <a:spcPct val="100000"/>
              </a:lnSpc>
              <a:spcBef>
                <a:spcPts val="561"/>
              </a:spcBef>
              <a:buClr>
                <a:srgbClr val="000000"/>
              </a:buClr>
              <a:buFont typeface="Arial"/>
              <a:buChar char="–"/>
            </a:pPr>
            <a:r>
              <a:rPr b="0" lang="en-US" sz="2200" spc="-1" strike="noStrike">
                <a:solidFill>
                  <a:schemeClr val="dk1"/>
                </a:solidFill>
                <a:latin typeface="Calibri"/>
              </a:rPr>
              <a:t>Result: NMF model achieved an RMSE of 1.3078 on the test set.</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Collaborative Filtering Algorithms Evaluation (NN Embedding)</a:t>
            </a:r>
            <a:endParaRPr b="0" lang="en-US" sz="4400" spc="-1" strike="noStrike">
              <a:solidFill>
                <a:srgbClr val="dd4100"/>
              </a:solidFill>
              <a:latin typeface="Arial"/>
            </a:endParaRPr>
          </a:p>
        </p:txBody>
      </p:sp>
      <p:sp>
        <p:nvSpPr>
          <p:cNvPr id="118" name="PlaceHolder 2"/>
          <p:cNvSpPr>
            <a:spLocks noGrp="1"/>
          </p:cNvSpPr>
          <p:nvPr>
            <p:ph/>
          </p:nvPr>
        </p:nvSpPr>
        <p:spPr>
          <a:xfrm>
            <a:off x="457200" y="1600200"/>
            <a:ext cx="8228880" cy="39783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Neural Network Embedding-based Collaborative Filtering:</a:t>
            </a:r>
            <a:endParaRPr b="0" lang="en-US" sz="2200" spc="-1" strike="noStrike">
              <a:solidFill>
                <a:srgbClr val="009bdd"/>
              </a:solidFill>
              <a:latin typeface="Arial"/>
            </a:endParaRPr>
          </a:p>
          <a:p>
            <a:pPr lvl="1" marL="743040" indent="-285840" defTabSz="457200">
              <a:lnSpc>
                <a:spcPct val="100000"/>
              </a:lnSpc>
              <a:spcBef>
                <a:spcPts val="561"/>
              </a:spcBef>
              <a:buClr>
                <a:srgbClr val="000000"/>
              </a:buClr>
              <a:buFont typeface="Arial"/>
              <a:buChar char="–"/>
            </a:pPr>
            <a:r>
              <a:rPr b="0" lang="en-US" sz="2200" spc="-1" strike="noStrike">
                <a:solidFill>
                  <a:schemeClr val="dk1"/>
                </a:solidFill>
                <a:latin typeface="Calibri"/>
              </a:rPr>
              <a:t>Metric: Root Mean Squared Error (RMSE).</a:t>
            </a:r>
            <a:endParaRPr b="0" lang="en-US" sz="2200" spc="-1" strike="noStrike">
              <a:solidFill>
                <a:srgbClr val="009bdd"/>
              </a:solidFill>
              <a:latin typeface="Arial"/>
            </a:endParaRPr>
          </a:p>
          <a:p>
            <a:pPr lvl="1" marL="743040" indent="-285840" defTabSz="457200">
              <a:lnSpc>
                <a:spcPct val="100000"/>
              </a:lnSpc>
              <a:spcBef>
                <a:spcPts val="561"/>
              </a:spcBef>
              <a:buClr>
                <a:srgbClr val="000000"/>
              </a:buClr>
              <a:buFont typeface="Arial"/>
              <a:buChar char="–"/>
            </a:pPr>
            <a:r>
              <a:rPr b="0" lang="en-US" sz="2200" spc="-1" strike="noStrike">
                <a:solidFill>
                  <a:schemeClr val="dk1"/>
                </a:solidFill>
                <a:latin typeface="Calibri"/>
              </a:rPr>
              <a:t>Results: The model achieved an RMSE of approximately 0.0894 on the training set and 0.1218 on the validation set after 10 epochs.</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Innovative Insights: Hybrid Approach &amp; Interpretability</a:t>
            </a:r>
            <a:endParaRPr b="0" lang="en-US" sz="4400" spc="-1" strike="noStrike">
              <a:solidFill>
                <a:srgbClr val="dd4100"/>
              </a:solidFill>
              <a:latin typeface="Arial"/>
            </a:endParaRPr>
          </a:p>
        </p:txBody>
      </p:sp>
      <p:sp>
        <p:nvSpPr>
          <p:cNvPr id="120" name="PlaceHolder 2"/>
          <p:cNvSpPr>
            <a:spLocks noGrp="1"/>
          </p:cNvSpPr>
          <p:nvPr>
            <p:ph/>
          </p:nvPr>
        </p:nvSpPr>
        <p:spPr>
          <a:xfrm>
            <a:off x="457200" y="1600200"/>
            <a:ext cx="8228880" cy="4529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Hybrid Recommendation Approach: The project demonstrates the effectiveness of combining content-based and collaborative filtering methods. This hybrid approach leverages the strengths of both, providing robust recommendations even for new users or items (cold-start problem) by utilizing content features, while also capturing complex user-item interactions through collaborative filtering.</a:t>
            </a:r>
            <a:endParaRPr b="0" lang="en-US" sz="20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Interpretability of Latent Features: Through techniques like NMF and Neural Network Embeddings, the project successfully extracts latent features for users and courses. These features, while abstract, provide a lower-dimensional representation of underlying preferences and characteristics, offering a more interpretable understanding of why certain recommendations are made.</a:t>
            </a:r>
            <a:endParaRPr b="0" lang="en-US" sz="20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Innovative Insights: Scalability &amp; Actionable Insights</a:t>
            </a:r>
            <a:endParaRPr b="0" lang="en-US" sz="4400" spc="-1" strike="noStrike">
              <a:solidFill>
                <a:srgbClr val="dd4100"/>
              </a:solidFill>
              <a:latin typeface="Arial"/>
            </a:endParaRPr>
          </a:p>
        </p:txBody>
      </p:sp>
      <p:sp>
        <p:nvSpPr>
          <p:cNvPr id="122" name="PlaceHolder 2"/>
          <p:cNvSpPr>
            <a:spLocks noGrp="1"/>
          </p:cNvSpPr>
          <p:nvPr>
            <p:ph/>
          </p:nvPr>
        </p:nvSpPr>
        <p:spPr>
          <a:xfrm>
            <a:off x="457200" y="1600200"/>
            <a:ext cx="8228880" cy="45252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Scalability through Dimensionality Reduction: The application of PCA for user clustering and NMF for collaborative filtering highlights the importance of dimensionality reduction in handling large datasets. These techniques not only improve computational efficiency but also help in identifying the most significant patterns in the data, leading to more effective and scalable recommendation systems.</a:t>
            </a:r>
            <a:endParaRPr b="0" lang="en-US" sz="20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000" spc="-1" strike="noStrike">
                <a:solidFill>
                  <a:schemeClr val="dk1"/>
                </a:solidFill>
                <a:latin typeface="Calibri"/>
              </a:rPr>
              <a:t>Actionable Insights for Course Development: The analysis of course genres and popular keywords provides direct, actionable insights for course developers. Understanding the most sought-after topics (e.g., Python, Machine Learning, AI) can guide the creation of new courses or the enhancement of existing ones to meet market demand.</a:t>
            </a:r>
            <a:endParaRPr b="0" lang="en-US" sz="20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Conclusion</a:t>
            </a:r>
            <a:endParaRPr b="0" lang="en-US" sz="4400" spc="-1" strike="noStrike">
              <a:solidFill>
                <a:srgbClr val="dd4100"/>
              </a:solidFill>
              <a:latin typeface="Arial"/>
            </a:endParaRPr>
          </a:p>
        </p:txBody>
      </p:sp>
      <p:sp>
        <p:nvSpPr>
          <p:cNvPr id="124" name="PlaceHolder 2"/>
          <p:cNvSpPr>
            <a:spLocks noGrp="1"/>
          </p:cNvSpPr>
          <p:nvPr>
            <p:ph/>
          </p:nvPr>
        </p:nvSpPr>
        <p:spPr>
          <a:xfrm>
            <a:off x="457200" y="1600200"/>
            <a:ext cx="8228880" cy="45252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Successfully developed a robust course recommendation system.</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Explored various techniques: content-based, collaborative filtering (KNN, NMF, NN embeddings), and hybrid approaches.</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Demonstrated effectiveness of feature engineering and dimensionality reduction.</a:t>
            </a:r>
            <a:endParaRPr b="0" lang="en-US" sz="2200" spc="-1" strike="noStrike">
              <a:solidFill>
                <a:srgbClr val="009bdd"/>
              </a:solidFill>
              <a:latin typeface="Arial"/>
            </a:endParaRPr>
          </a:p>
          <a:p>
            <a:pPr marL="343080" indent="-343080" defTabSz="457200">
              <a:lnSpc>
                <a:spcPct val="100000"/>
              </a:lnSpc>
              <a:spcBef>
                <a:spcPts val="641"/>
              </a:spcBef>
              <a:buClr>
                <a:srgbClr val="000000"/>
              </a:buClr>
              <a:buFont typeface="Arial"/>
              <a:buChar char="•"/>
            </a:pPr>
            <a:r>
              <a:rPr b="0" lang="en-US" sz="2200" spc="-1" strike="noStrike">
                <a:solidFill>
                  <a:schemeClr val="dk1"/>
                </a:solidFill>
                <a:latin typeface="Calibri"/>
              </a:rPr>
              <a:t>Future work: Explore less memory-demanding CF, real-time recommendations, and A/B testing.</a:t>
            </a:r>
            <a:endParaRPr b="0" lang="en-US" sz="2200" spc="-1" strike="noStrike">
              <a:solidFill>
                <a:srgbClr val="009bdd"/>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2025-07-29T16:11:15Z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